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92A3AE4-55DE-48E5-A602-68550FC964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E2C297-7AF6-49CA-9FE0-435555898A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84DD1E2-2BE6-455F-B0C3-C4EB3F5C51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288E0C7-D8C7-44E0-9CA7-A8B195D193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327D42D-1D9B-45F7-A14D-660C8EF390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609C611-91DB-4CBF-9560-F7DD5E6354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03B153B-DC6F-4194-BEE3-3F8484A402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AC822D1-5777-4471-9996-2B2EF65872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498B8C-3FDA-49AF-8049-B1C3EBB8FF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CDADCE2-0207-4ACF-9B90-FB8E3B789A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C1F4ED0-F90F-4D3F-8980-06BEE0126B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548640" y="2194560"/>
            <a:ext cx="456480" cy="5400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48640" y="137160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CLIMAT  ·  CO₂  ·  1979–2025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48640" y="2468880"/>
            <a:ext cx="10972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Migration R → Python</a:t>
            </a:r>
            <a:endParaRPr lang="fr-F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48640" y="3383280"/>
            <a:ext cx="10972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6B35"/>
                </a:solidFill>
                <a:effectLst/>
                <a:uFillTx/>
                <a:latin typeface="Inter"/>
              </a:rPr>
              <a:t>+ Tableau de bord interactif</a:t>
            </a:r>
            <a:endParaRPr lang="fr-F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548640" y="457200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Quel est le lien statistique entre 18 variables climatiques NOAA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548640" y="49377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et la concentration atmosphérique de CO₂ ?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548640" y="585216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ESSAI 1A — Programmation Mathématique — Mai 2026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548640" y="36576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01  ·  SOURCES &amp; FORMATS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548640" y="77724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8 sources, 4 formats, 60 Go de données brutes.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4"/>
          <p:cNvSpPr/>
          <p:nvPr/>
        </p:nvSpPr>
        <p:spPr>
          <a:xfrm>
            <a:off x="548640" y="2011680"/>
            <a:ext cx="4022640" cy="383400"/>
          </a:xfrm>
          <a:prstGeom prst="rect">
            <a:avLst/>
          </a:prstGeom>
          <a:solidFill>
            <a:srgbClr val="1C2A44"/>
          </a:solidFill>
          <a:ln w="635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Source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5"/>
          <p:cNvSpPr/>
          <p:nvPr/>
        </p:nvSpPr>
        <p:spPr>
          <a:xfrm>
            <a:off x="4572000" y="2011680"/>
            <a:ext cx="1645200" cy="383400"/>
          </a:xfrm>
          <a:prstGeom prst="rect">
            <a:avLst/>
          </a:prstGeom>
          <a:solidFill>
            <a:srgbClr val="1C2A44"/>
          </a:solidFill>
          <a:ln w="635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Période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6"/>
          <p:cNvSpPr/>
          <p:nvPr/>
        </p:nvSpPr>
        <p:spPr>
          <a:xfrm>
            <a:off x="6217920" y="2011680"/>
            <a:ext cx="1828080" cy="383400"/>
          </a:xfrm>
          <a:prstGeom prst="rect">
            <a:avLst/>
          </a:prstGeom>
          <a:solidFill>
            <a:srgbClr val="1C2A44"/>
          </a:solidFill>
          <a:ln w="635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Résolution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7"/>
          <p:cNvSpPr/>
          <p:nvPr/>
        </p:nvSpPr>
        <p:spPr>
          <a:xfrm>
            <a:off x="8046720" y="2011680"/>
            <a:ext cx="1279440" cy="383400"/>
          </a:xfrm>
          <a:prstGeom prst="rect">
            <a:avLst/>
          </a:prstGeom>
          <a:solidFill>
            <a:srgbClr val="1C2A44"/>
          </a:solidFill>
          <a:ln w="635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Format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9326880" y="2011680"/>
            <a:ext cx="1279440" cy="383400"/>
          </a:xfrm>
          <a:prstGeom prst="rect">
            <a:avLst/>
          </a:prstGeom>
          <a:solidFill>
            <a:srgbClr val="1C2A44"/>
          </a:solidFill>
          <a:ln w="635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72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Volume</a:t>
            </a:r>
            <a:endParaRPr lang="fr-F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9"/>
          <p:cNvSpPr/>
          <p:nvPr/>
        </p:nvSpPr>
        <p:spPr>
          <a:xfrm>
            <a:off x="548640" y="2395800"/>
            <a:ext cx="40226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CO₂ mensuel global · NOAA GML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0"/>
          <p:cNvSpPr/>
          <p:nvPr/>
        </p:nvSpPr>
        <p:spPr>
          <a:xfrm>
            <a:off x="4572000" y="2395800"/>
            <a:ext cx="164520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1979–2025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1"/>
          <p:cNvSpPr/>
          <p:nvPr/>
        </p:nvSpPr>
        <p:spPr>
          <a:xfrm>
            <a:off x="6217920" y="2395800"/>
            <a:ext cx="182808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mensuel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2"/>
          <p:cNvSpPr/>
          <p:nvPr/>
        </p:nvSpPr>
        <p:spPr>
          <a:xfrm>
            <a:off x="8046720" y="2395800"/>
            <a:ext cx="12794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CSV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13"/>
          <p:cNvSpPr/>
          <p:nvPr/>
        </p:nvSpPr>
        <p:spPr>
          <a:xfrm>
            <a:off x="9326880" y="2395800"/>
            <a:ext cx="12794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24 Ko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14"/>
          <p:cNvSpPr/>
          <p:nvPr/>
        </p:nvSpPr>
        <p:spPr>
          <a:xfrm>
            <a:off x="548640" y="2779920"/>
            <a:ext cx="402264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CO₂ Mauna Loa · NOAA/SIO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5"/>
          <p:cNvSpPr/>
          <p:nvPr/>
        </p:nvSpPr>
        <p:spPr>
          <a:xfrm>
            <a:off x="4572000" y="2779920"/>
            <a:ext cx="164520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1958–2026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6"/>
          <p:cNvSpPr/>
          <p:nvPr/>
        </p:nvSpPr>
        <p:spPr>
          <a:xfrm>
            <a:off x="6217920" y="2779920"/>
            <a:ext cx="182808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mensuel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17"/>
          <p:cNvSpPr/>
          <p:nvPr/>
        </p:nvSpPr>
        <p:spPr>
          <a:xfrm>
            <a:off x="8046720" y="2779920"/>
            <a:ext cx="127944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CSV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18"/>
          <p:cNvSpPr/>
          <p:nvPr/>
        </p:nvSpPr>
        <p:spPr>
          <a:xfrm>
            <a:off x="9326880" y="2779920"/>
            <a:ext cx="127944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23 Ko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19"/>
          <p:cNvSpPr/>
          <p:nvPr/>
        </p:nvSpPr>
        <p:spPr>
          <a:xfrm>
            <a:off x="548640" y="3163680"/>
            <a:ext cx="40226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CO₂ paléo · Vostok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20"/>
          <p:cNvSpPr/>
          <p:nvPr/>
        </p:nvSpPr>
        <p:spPr>
          <a:xfrm>
            <a:off x="4572000" y="3163680"/>
            <a:ext cx="164520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414 ka BP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21"/>
          <p:cNvSpPr/>
          <p:nvPr/>
        </p:nvSpPr>
        <p:spPr>
          <a:xfrm>
            <a:off x="6217920" y="3163680"/>
            <a:ext cx="182808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irrégulier n=283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22"/>
          <p:cNvSpPr/>
          <p:nvPr/>
        </p:nvSpPr>
        <p:spPr>
          <a:xfrm>
            <a:off x="8046720" y="3163680"/>
            <a:ext cx="12794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CSV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23"/>
          <p:cNvSpPr/>
          <p:nvPr/>
        </p:nvSpPr>
        <p:spPr>
          <a:xfrm>
            <a:off x="9326880" y="3163680"/>
            <a:ext cx="12794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8 Ko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24"/>
          <p:cNvSpPr/>
          <p:nvPr/>
        </p:nvSpPr>
        <p:spPr>
          <a:xfrm>
            <a:off x="548640" y="3547800"/>
            <a:ext cx="402264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Émissions fossiles · GCB 2025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25"/>
          <p:cNvSpPr/>
          <p:nvPr/>
        </p:nvSpPr>
        <p:spPr>
          <a:xfrm>
            <a:off x="4572000" y="3547800"/>
            <a:ext cx="164520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1750–2024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26"/>
          <p:cNvSpPr/>
          <p:nvPr/>
        </p:nvSpPr>
        <p:spPr>
          <a:xfrm>
            <a:off x="6217920" y="3547800"/>
            <a:ext cx="182808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annuel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27"/>
          <p:cNvSpPr/>
          <p:nvPr/>
        </p:nvSpPr>
        <p:spPr>
          <a:xfrm>
            <a:off x="8046720" y="3547800"/>
            <a:ext cx="127944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CSV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28"/>
          <p:cNvSpPr/>
          <p:nvPr/>
        </p:nvSpPr>
        <p:spPr>
          <a:xfrm>
            <a:off x="9326880" y="3547800"/>
            <a:ext cx="127944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35 Ko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29"/>
          <p:cNvSpPr/>
          <p:nvPr/>
        </p:nvSpPr>
        <p:spPr>
          <a:xfrm>
            <a:off x="548640" y="3931920"/>
            <a:ext cx="40226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ENSO ONI · NOAA CPC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30"/>
          <p:cNvSpPr/>
          <p:nvPr/>
        </p:nvSpPr>
        <p:spPr>
          <a:xfrm>
            <a:off x="4572000" y="3931920"/>
            <a:ext cx="164520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1950–pres.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31"/>
          <p:cNvSpPr/>
          <p:nvPr/>
        </p:nvSpPr>
        <p:spPr>
          <a:xfrm>
            <a:off x="6217920" y="3931920"/>
            <a:ext cx="182808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trimestriel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32"/>
          <p:cNvSpPr/>
          <p:nvPr/>
        </p:nvSpPr>
        <p:spPr>
          <a:xfrm>
            <a:off x="8046720" y="3931920"/>
            <a:ext cx="12794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CSV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33"/>
          <p:cNvSpPr/>
          <p:nvPr/>
        </p:nvSpPr>
        <p:spPr>
          <a:xfrm>
            <a:off x="9326880" y="3931920"/>
            <a:ext cx="12794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19 Ko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34"/>
          <p:cNvSpPr/>
          <p:nvPr/>
        </p:nvSpPr>
        <p:spPr>
          <a:xfrm>
            <a:off x="548640" y="4316040"/>
            <a:ext cx="402264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Réanalyse CFSR/CFSv2 · 2.5°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35"/>
          <p:cNvSpPr/>
          <p:nvPr/>
        </p:nvSpPr>
        <p:spPr>
          <a:xfrm>
            <a:off x="4572000" y="4316040"/>
            <a:ext cx="164520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1979–2026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36"/>
          <p:cNvSpPr/>
          <p:nvPr/>
        </p:nvSpPr>
        <p:spPr>
          <a:xfrm>
            <a:off x="6217920" y="4316040"/>
            <a:ext cx="182808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144 × 73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37"/>
          <p:cNvSpPr/>
          <p:nvPr/>
        </p:nvSpPr>
        <p:spPr>
          <a:xfrm>
            <a:off x="8046720" y="4316040"/>
            <a:ext cx="127944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GRIB2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38"/>
          <p:cNvSpPr/>
          <p:nvPr/>
        </p:nvSpPr>
        <p:spPr>
          <a:xfrm>
            <a:off x="9326880" y="4316040"/>
            <a:ext cx="1279440" cy="383400"/>
          </a:xfrm>
          <a:prstGeom prst="rect">
            <a:avLst/>
          </a:prstGeom>
          <a:solidFill>
            <a:srgbClr val="101828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3.5 Go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39"/>
          <p:cNvSpPr/>
          <p:nvPr/>
        </p:nvSpPr>
        <p:spPr>
          <a:xfrm>
            <a:off x="548640" y="4700160"/>
            <a:ext cx="40226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Réanalyse CFSR/CFSv2 · 0.5°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40"/>
          <p:cNvSpPr/>
          <p:nvPr/>
        </p:nvSpPr>
        <p:spPr>
          <a:xfrm>
            <a:off x="4572000" y="4700160"/>
            <a:ext cx="164520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1979–2026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41"/>
          <p:cNvSpPr/>
          <p:nvPr/>
        </p:nvSpPr>
        <p:spPr>
          <a:xfrm>
            <a:off x="6217920" y="4700160"/>
            <a:ext cx="182808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720 × 361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42"/>
          <p:cNvSpPr/>
          <p:nvPr/>
        </p:nvSpPr>
        <p:spPr>
          <a:xfrm>
            <a:off x="8046720" y="4700160"/>
            <a:ext cx="12794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GRIB2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43"/>
          <p:cNvSpPr/>
          <p:nvPr/>
        </p:nvSpPr>
        <p:spPr>
          <a:xfrm>
            <a:off x="9326880" y="4700160"/>
            <a:ext cx="1279440" cy="383400"/>
          </a:xfrm>
          <a:prstGeom prst="rect">
            <a:avLst/>
          </a:prstGeom>
          <a:solidFill>
            <a:srgbClr val="141C2D"/>
          </a:solidFill>
          <a:ln w="3810"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57 Go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44"/>
          <p:cNvSpPr/>
          <p:nvPr/>
        </p:nvSpPr>
        <p:spPr>
          <a:xfrm>
            <a:off x="548640" y="5486400"/>
            <a:ext cx="10972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▸  GRIB2 lu via wgrib2 → NetCDF → xarray  ·  CSV chargés via pandas  ·  0 NA après filtrage sur les 18 variables × 564 mois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45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ESSAI 1A · Programmation Mathématique 2025–2026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46"/>
          <p:cNvSpPr/>
          <p:nvPr/>
        </p:nvSpPr>
        <p:spPr>
          <a:xfrm>
            <a:off x="10515600" y="6446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02 / 10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48640" y="36576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02  ·  VARIABLES RETENUES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560520" y="70344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18 variables CFSR  +  3 indicateurs dérivés CRE.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ounded Rectangle 4"/>
          <p:cNvSpPr/>
          <p:nvPr/>
        </p:nvSpPr>
        <p:spPr>
          <a:xfrm>
            <a:off x="548640" y="1980000"/>
            <a:ext cx="6765840" cy="414576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777240" y="2057400"/>
            <a:ext cx="640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▸  18 VARIABLES BRUTES  ·  GRIB2 → NetCDF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777240" y="2423160"/>
            <a:ext cx="64000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T2m, T500              température (2 m, 500 hPa)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SPFH2m                 humidité spécifique 2 m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PWAT                   eau précipitable colonne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APCP                   précipitations cumulées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TCDC                   couverture nuageuse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DLWRF / ULWRF          LW descendant / ascendant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DSWRF / USWRF          SW descendant / réfléchi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PRMSL                  pression réduite mer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CSDSF / CSUSF          SW clear-sky desc. / asc.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CSDLF / CSULF          LW clear-sky desc. / asc.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CDUVB / DUVB           UV-B clear-sky / all-sky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ALBDO                  albédo de surface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7"/>
          <p:cNvSpPr/>
          <p:nvPr/>
        </p:nvSpPr>
        <p:spPr>
          <a:xfrm>
            <a:off x="7589520" y="1980000"/>
            <a:ext cx="4114080" cy="414576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7818120" y="2057400"/>
            <a:ext cx="3656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▸  3 INDICATEURS DÉRIVÉS  (CRE)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7818120" y="2468880"/>
            <a:ext cx="365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Cloud Radiative Effect :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7818120" y="2834640"/>
            <a:ext cx="3656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CRE_SW  =  (DSWRF−USWRF)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                 −(CSDSF−CSUSF)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7818120" y="3566160"/>
            <a:ext cx="3656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CRE_LW  =  (DLWRF−ULWRF)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                 −(CSDLF−CSULF)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7818120" y="4297680"/>
            <a:ext cx="365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CRE_net =  CRE_SW + CRE_LW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7818120" y="5029200"/>
            <a:ext cx="36568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→ permet d'isoler l'effet des nuages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     hors signal clear-sky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ESSAI 1A · Programmation Mathématique 2025–2026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10515600" y="6446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03 / 10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1080" y="0"/>
            <a:ext cx="12191040" cy="68572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548640" y="36576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03  ·  MIGRATION R → PYTHON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548640" y="77724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Tout le pipeline traduit, validé à 10⁻¹³ près.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4"/>
          <p:cNvSpPr/>
          <p:nvPr/>
        </p:nvSpPr>
        <p:spPr>
          <a:xfrm>
            <a:off x="548640" y="1920240"/>
            <a:ext cx="7771680" cy="402264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5"/>
          <p:cNvSpPr/>
          <p:nvPr/>
        </p:nvSpPr>
        <p:spPr>
          <a:xfrm>
            <a:off x="777240" y="205740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▸  ÉQUIVALENCES TECHNIQUES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777240" y="2514600"/>
            <a:ext cx="32911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dplyr / tidyr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4160520" y="25146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→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8"/>
          <p:cNvSpPr/>
          <p:nvPr/>
        </p:nvSpPr>
        <p:spPr>
          <a:xfrm>
            <a:off x="4526280" y="2514600"/>
            <a:ext cx="36568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pandas  (groupby, pivot, melt)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777240" y="2898720"/>
            <a:ext cx="3291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ggplot2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0"/>
          <p:cNvSpPr/>
          <p:nvPr/>
        </p:nvSpPr>
        <p:spPr>
          <a:xfrm>
            <a:off x="4160520" y="289872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→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1"/>
          <p:cNvSpPr/>
          <p:nvPr/>
        </p:nvSpPr>
        <p:spPr>
          <a:xfrm>
            <a:off x="4526280" y="2898720"/>
            <a:ext cx="365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matplotlib + seaborn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2"/>
          <p:cNvSpPr/>
          <p:nvPr/>
        </p:nvSpPr>
        <p:spPr>
          <a:xfrm>
            <a:off x="777240" y="3282840"/>
            <a:ext cx="3291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tsibble / forecast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3"/>
          <p:cNvSpPr/>
          <p:nvPr/>
        </p:nvSpPr>
        <p:spPr>
          <a:xfrm>
            <a:off x="4160520" y="32828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→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4"/>
          <p:cNvSpPr/>
          <p:nvPr/>
        </p:nvSpPr>
        <p:spPr>
          <a:xfrm>
            <a:off x="4526280" y="3282840"/>
            <a:ext cx="365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statsmodels (ARIMA, STL, MK)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5"/>
          <p:cNvSpPr/>
          <p:nvPr/>
        </p:nvSpPr>
        <p:spPr>
          <a:xfrm>
            <a:off x="777240" y="3666600"/>
            <a:ext cx="329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ncdf4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6"/>
          <p:cNvSpPr/>
          <p:nvPr/>
        </p:nvSpPr>
        <p:spPr>
          <a:xfrm>
            <a:off x="4160520" y="36666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→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7"/>
          <p:cNvSpPr/>
          <p:nvPr/>
        </p:nvSpPr>
        <p:spPr>
          <a:xfrm>
            <a:off x="4526280" y="3666600"/>
            <a:ext cx="365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xarray + netCDF4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8"/>
          <p:cNvSpPr/>
          <p:nvPr/>
        </p:nvSpPr>
        <p:spPr>
          <a:xfrm>
            <a:off x="777240" y="4050720"/>
            <a:ext cx="3291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Boxplot / IQR / z-score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9"/>
          <p:cNvSpPr/>
          <p:nvPr/>
        </p:nvSpPr>
        <p:spPr>
          <a:xfrm>
            <a:off x="4160520" y="405072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→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0"/>
          <p:cNvSpPr/>
          <p:nvPr/>
        </p:nvSpPr>
        <p:spPr>
          <a:xfrm>
            <a:off x="4526280" y="4050720"/>
            <a:ext cx="36568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scipy.stats + pandas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1"/>
          <p:cNvSpPr/>
          <p:nvPr/>
        </p:nvSpPr>
        <p:spPr>
          <a:xfrm>
            <a:off x="777240" y="4434840"/>
            <a:ext cx="3291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Mann-Kendall + Sen + bootstrap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2"/>
          <p:cNvSpPr/>
          <p:nvPr/>
        </p:nvSpPr>
        <p:spPr>
          <a:xfrm>
            <a:off x="4160520" y="443484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→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3"/>
          <p:cNvSpPr/>
          <p:nvPr/>
        </p:nvSpPr>
        <p:spPr>
          <a:xfrm>
            <a:off x="4526280" y="4434840"/>
            <a:ext cx="365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pymannkendall + np.random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4"/>
          <p:cNvSpPr/>
          <p:nvPr/>
        </p:nvSpPr>
        <p:spPr>
          <a:xfrm>
            <a:off x="777240" y="4818960"/>
            <a:ext cx="329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Granger causality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5"/>
          <p:cNvSpPr/>
          <p:nvPr/>
        </p:nvSpPr>
        <p:spPr>
          <a:xfrm>
            <a:off x="4160520" y="48189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→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6"/>
          <p:cNvSpPr/>
          <p:nvPr/>
        </p:nvSpPr>
        <p:spPr>
          <a:xfrm>
            <a:off x="4526280" y="4818960"/>
            <a:ext cx="3656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statsmodels.tsa.grangercausalitytests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7"/>
          <p:cNvSpPr/>
          <p:nvPr/>
        </p:nvSpPr>
        <p:spPr>
          <a:xfrm>
            <a:off x="777240" y="5351760"/>
            <a:ext cx="3291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Régression stepwise + Lasso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28"/>
          <p:cNvSpPr/>
          <p:nvPr/>
        </p:nvSpPr>
        <p:spPr>
          <a:xfrm>
            <a:off x="4140000" y="53517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→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9"/>
          <p:cNvSpPr/>
          <p:nvPr/>
        </p:nvSpPr>
        <p:spPr>
          <a:xfrm>
            <a:off x="4525560" y="5339880"/>
            <a:ext cx="365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sklearn.linear_model.LassoCV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30"/>
          <p:cNvSpPr/>
          <p:nvPr/>
        </p:nvSpPr>
        <p:spPr>
          <a:xfrm>
            <a:off x="8595360" y="1920240"/>
            <a:ext cx="3108240" cy="402264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31"/>
          <p:cNvSpPr/>
          <p:nvPr/>
        </p:nvSpPr>
        <p:spPr>
          <a:xfrm>
            <a:off x="8778240" y="2057400"/>
            <a:ext cx="2742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▸  VALIDATION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2"/>
          <p:cNvSpPr/>
          <p:nvPr/>
        </p:nvSpPr>
        <p:spPr>
          <a:xfrm>
            <a:off x="8778240" y="2468880"/>
            <a:ext cx="2833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52FFB8"/>
                </a:solidFill>
                <a:effectLst/>
                <a:uFillTx/>
                <a:latin typeface="Inter"/>
              </a:rPr>
              <a:t>10⁻¹³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3"/>
          <p:cNvSpPr/>
          <p:nvPr/>
        </p:nvSpPr>
        <p:spPr>
          <a:xfrm>
            <a:off x="8778240" y="3200400"/>
            <a:ext cx="2833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précision relative max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4"/>
          <p:cNvSpPr/>
          <p:nvPr/>
        </p:nvSpPr>
        <p:spPr>
          <a:xfrm>
            <a:off x="8778240" y="3840480"/>
            <a:ext cx="2833920" cy="14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Moyennes pondérées cos(lat)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Pentes Sen / IC bootstrap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Granger / Lasso / ARIMA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Cartes pixel 0.5°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Différence inhérente aux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RNG sur bootstrap (~10⁻¹⁰)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5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ESSAI 1A · Programmation Mathématique 2025–2026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36"/>
          <p:cNvSpPr/>
          <p:nvPr/>
        </p:nvSpPr>
        <p:spPr>
          <a:xfrm>
            <a:off x="10515600" y="6446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04 / 10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548640" y="36576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04  ·  PHASE 1 — CARACTÉRISATION DU CO₂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548640" y="70344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Une hausse quasi-linéaire, 30× plus rapide que paléo.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4"/>
          <p:cNvSpPr/>
          <p:nvPr/>
        </p:nvSpPr>
        <p:spPr>
          <a:xfrm>
            <a:off x="540000" y="2103120"/>
            <a:ext cx="219384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5"/>
          <p:cNvSpPr/>
          <p:nvPr/>
        </p:nvSpPr>
        <p:spPr>
          <a:xfrm>
            <a:off x="677160" y="219456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7931E"/>
                </a:solidFill>
                <a:effectLst/>
                <a:uFillTx/>
                <a:latin typeface="Inter"/>
              </a:rPr>
              <a:t>+1.881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6"/>
          <p:cNvSpPr/>
          <p:nvPr/>
        </p:nvSpPr>
        <p:spPr>
          <a:xfrm>
            <a:off x="677160" y="265176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Pente Sen (ppm/an)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7"/>
          <p:cNvSpPr/>
          <p:nvPr/>
        </p:nvSpPr>
        <p:spPr>
          <a:xfrm>
            <a:off x="2917440" y="2103120"/>
            <a:ext cx="219384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8"/>
          <p:cNvSpPr/>
          <p:nvPr/>
        </p:nvSpPr>
        <p:spPr>
          <a:xfrm>
            <a:off x="3054600" y="219456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6B35"/>
                </a:solidFill>
                <a:effectLst/>
                <a:uFillTx/>
                <a:latin typeface="Inter"/>
              </a:rPr>
              <a:t>+89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9"/>
          <p:cNvSpPr/>
          <p:nvPr/>
        </p:nvSpPr>
        <p:spPr>
          <a:xfrm>
            <a:off x="3054600" y="265176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ppm cumulés sur 47 ans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10"/>
          <p:cNvSpPr/>
          <p:nvPr/>
        </p:nvSpPr>
        <p:spPr>
          <a:xfrm>
            <a:off x="5294880" y="2103120"/>
            <a:ext cx="219384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1"/>
          <p:cNvSpPr/>
          <p:nvPr/>
        </p:nvSpPr>
        <p:spPr>
          <a:xfrm>
            <a:off x="5432040" y="219456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52FFB8"/>
                </a:solidFill>
                <a:effectLst/>
                <a:uFillTx/>
                <a:latin typeface="Inter"/>
              </a:rPr>
              <a:t>30×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2"/>
          <p:cNvSpPr/>
          <p:nvPr/>
        </p:nvSpPr>
        <p:spPr>
          <a:xfrm>
            <a:off x="5432040" y="265176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vs paléo (Vostok)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13"/>
          <p:cNvSpPr/>
          <p:nvPr/>
        </p:nvSpPr>
        <p:spPr>
          <a:xfrm>
            <a:off x="7672320" y="2103120"/>
            <a:ext cx="219384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14"/>
          <p:cNvSpPr/>
          <p:nvPr/>
        </p:nvSpPr>
        <p:spPr>
          <a:xfrm>
            <a:off x="7809480" y="219456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D9FF"/>
                </a:solidFill>
                <a:effectLst/>
                <a:uFillTx/>
                <a:latin typeface="Inter"/>
              </a:rPr>
              <a:t>[1.78, 1.97]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5"/>
          <p:cNvSpPr/>
          <p:nvPr/>
        </p:nvSpPr>
        <p:spPr>
          <a:xfrm>
            <a:off x="7809480" y="265176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IC95 bootstrap n=1000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6"/>
          <p:cNvSpPr/>
          <p:nvPr/>
        </p:nvSpPr>
        <p:spPr>
          <a:xfrm>
            <a:off x="548640" y="3200400"/>
            <a:ext cx="10972080" cy="19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STL · décomposition saisonnière + tendance robuste (Loess)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Mann-Kendall non-paramétrique  ·  τ ≈ 0.93,  p &lt; 10⁻⁵⁰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ARIMA(1,1,1)(1,1,1)₁₂  ·  prévision out-of-sample sur 5 ans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Détection de ruptures Bayes (PELT)  ·  aucune rupture significative depuis 1979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Comparaison Vostok (paléo) vs moderne  ·  taux ~0.06 ppm/an au pic naturel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Anomalie COVID-19 modérée (-0.4 ppm cumulé)  ·  fraction airborne ≈ 53 % stable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7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ESSAI 1A · Programmation Mathématique 2025–2026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8"/>
          <p:cNvSpPr/>
          <p:nvPr/>
        </p:nvSpPr>
        <p:spPr>
          <a:xfrm>
            <a:off x="10515600" y="6446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05 / 10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548640" y="36576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05  ·  PHASE 2 — CLIMAT GLOBAL 2.5°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3"/>
          <p:cNvSpPr/>
          <p:nvPr/>
        </p:nvSpPr>
        <p:spPr>
          <a:xfrm>
            <a:off x="548640" y="70344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5 représentations  ·  15/21 variables Granger-causales.</a:t>
            </a:r>
            <a:endParaRPr lang="fr-F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4"/>
          <p:cNvSpPr/>
          <p:nvPr/>
        </p:nvSpPr>
        <p:spPr>
          <a:xfrm>
            <a:off x="610920" y="1873800"/>
            <a:ext cx="228528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5"/>
          <p:cNvSpPr/>
          <p:nvPr/>
        </p:nvSpPr>
        <p:spPr>
          <a:xfrm>
            <a:off x="748080" y="196524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52FFB8"/>
                </a:solidFill>
                <a:effectLst/>
                <a:uFillTx/>
                <a:latin typeface="Inter"/>
              </a:rPr>
              <a:t>15 / 21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748080" y="24224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Granger X→CO₂ (d12)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7"/>
          <p:cNvSpPr/>
          <p:nvPr/>
        </p:nvSpPr>
        <p:spPr>
          <a:xfrm>
            <a:off x="3079800" y="1873800"/>
            <a:ext cx="228528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8"/>
          <p:cNvSpPr/>
          <p:nvPr/>
        </p:nvSpPr>
        <p:spPr>
          <a:xfrm>
            <a:off x="3216960" y="196524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D9FF"/>
                </a:solidFill>
                <a:effectLst/>
                <a:uFillTx/>
                <a:latin typeface="Inter"/>
              </a:rPr>
              <a:t>R² = 0.748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9"/>
          <p:cNvSpPr/>
          <p:nvPr/>
        </p:nvSpPr>
        <p:spPr>
          <a:xfrm>
            <a:off x="3216960" y="24224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modèle multivar. Newey-West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10"/>
          <p:cNvSpPr/>
          <p:nvPr/>
        </p:nvSpPr>
        <p:spPr>
          <a:xfrm>
            <a:off x="5548680" y="1873800"/>
            <a:ext cx="228528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11"/>
          <p:cNvSpPr/>
          <p:nvPr/>
        </p:nvSpPr>
        <p:spPr>
          <a:xfrm>
            <a:off x="5685840" y="196524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6B35"/>
                </a:solidFill>
                <a:effectLst/>
                <a:uFillTx/>
                <a:latin typeface="Inter"/>
              </a:rPr>
              <a:t>+7.84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12"/>
          <p:cNvSpPr/>
          <p:nvPr/>
        </p:nvSpPr>
        <p:spPr>
          <a:xfrm>
            <a:off x="5685840" y="24224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W/m² · CSDLF · 47 ans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13"/>
          <p:cNvSpPr/>
          <p:nvPr/>
        </p:nvSpPr>
        <p:spPr>
          <a:xfrm>
            <a:off x="8017560" y="1873800"/>
            <a:ext cx="228528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4"/>
          <p:cNvSpPr/>
          <p:nvPr/>
        </p:nvSpPr>
        <p:spPr>
          <a:xfrm>
            <a:off x="8154720" y="196524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B627"/>
                </a:solidFill>
                <a:effectLst/>
                <a:uFillTx/>
                <a:latin typeface="Inter"/>
              </a:rPr>
              <a:t>11/21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5"/>
          <p:cNvSpPr/>
          <p:nvPr/>
        </p:nvSpPr>
        <p:spPr>
          <a:xfrm>
            <a:off x="8154720" y="24224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spurious trend détecté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16"/>
          <p:cNvSpPr/>
          <p:nvPr/>
        </p:nvSpPr>
        <p:spPr>
          <a:xfrm>
            <a:off x="548640" y="2926080"/>
            <a:ext cx="5485680" cy="329112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17"/>
          <p:cNvSpPr/>
          <p:nvPr/>
        </p:nvSpPr>
        <p:spPr>
          <a:xfrm>
            <a:off x="777240" y="3063240"/>
            <a:ext cx="5302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▸  TOP 5 CORR. RÉSIDUS (1979–2025)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8"/>
          <p:cNvSpPr/>
          <p:nvPr/>
        </p:nvSpPr>
        <p:spPr>
          <a:xfrm>
            <a:off x="868680" y="352044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CRE_LW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9"/>
          <p:cNvSpPr/>
          <p:nvPr/>
        </p:nvSpPr>
        <p:spPr>
          <a:xfrm>
            <a:off x="3611880" y="352044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−0.523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0"/>
          <p:cNvSpPr/>
          <p:nvPr/>
        </p:nvSpPr>
        <p:spPr>
          <a:xfrm>
            <a:off x="868680" y="397764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CRE_SW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1"/>
          <p:cNvSpPr/>
          <p:nvPr/>
        </p:nvSpPr>
        <p:spPr>
          <a:xfrm>
            <a:off x="3611880" y="397764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+0.489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2"/>
          <p:cNvSpPr/>
          <p:nvPr/>
        </p:nvSpPr>
        <p:spPr>
          <a:xfrm>
            <a:off x="868680" y="443484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DSWRF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3"/>
          <p:cNvSpPr/>
          <p:nvPr/>
        </p:nvSpPr>
        <p:spPr>
          <a:xfrm>
            <a:off x="3611880" y="443484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+0.437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4"/>
          <p:cNvSpPr/>
          <p:nvPr/>
        </p:nvSpPr>
        <p:spPr>
          <a:xfrm>
            <a:off x="868680" y="489204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CRE_net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25"/>
          <p:cNvSpPr/>
          <p:nvPr/>
        </p:nvSpPr>
        <p:spPr>
          <a:xfrm>
            <a:off x="3611880" y="489204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+0.432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26"/>
          <p:cNvSpPr/>
          <p:nvPr/>
        </p:nvSpPr>
        <p:spPr>
          <a:xfrm>
            <a:off x="868680" y="534924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PRMSL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7"/>
          <p:cNvSpPr/>
          <p:nvPr/>
        </p:nvSpPr>
        <p:spPr>
          <a:xfrm>
            <a:off x="3611880" y="5349240"/>
            <a:ext cx="1828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−0.394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28"/>
          <p:cNvSpPr/>
          <p:nvPr/>
        </p:nvSpPr>
        <p:spPr>
          <a:xfrm>
            <a:off x="6217920" y="2926080"/>
            <a:ext cx="5485680" cy="329112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29"/>
          <p:cNvSpPr/>
          <p:nvPr/>
        </p:nvSpPr>
        <p:spPr>
          <a:xfrm>
            <a:off x="6446520" y="3063240"/>
            <a:ext cx="5302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▸  5 REPRÉSENTATIONS TEMPORELLES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30"/>
          <p:cNvSpPr/>
          <p:nvPr/>
        </p:nvSpPr>
        <p:spPr>
          <a:xfrm>
            <a:off x="6446520" y="3520440"/>
            <a:ext cx="5119920" cy="22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level    →   série brute (signal séculaire)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anom    →   anomalies désaisonnées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resid    →   anomalies dé-trendées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d1        →   différence 1er ordre  (mois-à-mois)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d12      →   différence saisonnière (interannuel)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→ révèle que 11/21 corrélations brutes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    sont portées par la trend commune.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31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ESSAI 1A · Programmation Mathématique 2025–2026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2"/>
          <p:cNvSpPr/>
          <p:nvPr/>
        </p:nvSpPr>
        <p:spPr>
          <a:xfrm>
            <a:off x="10515600" y="6446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06 / 10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2"/>
          <p:cNvSpPr/>
          <p:nvPr/>
        </p:nvSpPr>
        <p:spPr>
          <a:xfrm>
            <a:off x="548640" y="36576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06  ·  PHASE 3 — CLIMAT RÉGIONAL 0.5°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3"/>
          <p:cNvSpPr/>
          <p:nvPr/>
        </p:nvSpPr>
        <p:spPr>
          <a:xfrm>
            <a:off x="548640" y="77724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Cartes pixel par pixel  ·  4 hotspots  ·  amplification arctique 4×.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4"/>
          <p:cNvSpPr/>
          <p:nvPr/>
        </p:nvSpPr>
        <p:spPr>
          <a:xfrm>
            <a:off x="548640" y="1920240"/>
            <a:ext cx="228528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5"/>
          <p:cNvSpPr/>
          <p:nvPr/>
        </p:nvSpPr>
        <p:spPr>
          <a:xfrm>
            <a:off x="685800" y="201168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D9FF"/>
                </a:solidFill>
                <a:effectLst/>
                <a:uFillTx/>
                <a:latin typeface="Inter"/>
              </a:rPr>
              <a:t>259 920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6"/>
          <p:cNvSpPr/>
          <p:nvPr/>
        </p:nvSpPr>
        <p:spPr>
          <a:xfrm>
            <a:off x="685800" y="24688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pixels × 564 mois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7"/>
          <p:cNvSpPr/>
          <p:nvPr/>
        </p:nvSpPr>
        <p:spPr>
          <a:xfrm>
            <a:off x="3017520" y="1920240"/>
            <a:ext cx="228528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8"/>
          <p:cNvSpPr/>
          <p:nvPr/>
        </p:nvSpPr>
        <p:spPr>
          <a:xfrm>
            <a:off x="3154680" y="201168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6B35"/>
                </a:solidFill>
                <a:effectLst/>
                <a:uFillTx/>
                <a:latin typeface="Inter"/>
              </a:rPr>
              <a:t>4.0×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9"/>
          <p:cNvSpPr/>
          <p:nvPr/>
        </p:nvSpPr>
        <p:spPr>
          <a:xfrm>
            <a:off x="3154680" y="24688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amplif. arctique vs global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10"/>
          <p:cNvSpPr/>
          <p:nvPr/>
        </p:nvSpPr>
        <p:spPr>
          <a:xfrm>
            <a:off x="5486400" y="1920240"/>
            <a:ext cx="2285280" cy="9136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11"/>
          <p:cNvSpPr/>
          <p:nvPr/>
        </p:nvSpPr>
        <p:spPr>
          <a:xfrm>
            <a:off x="5623560" y="2011680"/>
            <a:ext cx="2285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52FFB8"/>
                </a:solidFill>
                <a:effectLst/>
                <a:uFillTx/>
                <a:latin typeface="Inter"/>
              </a:rPr>
              <a:t>0.999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2"/>
          <p:cNvSpPr/>
          <p:nvPr/>
        </p:nvSpPr>
        <p:spPr>
          <a:xfrm>
            <a:off x="5623560" y="24688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corr. 0.5° vs 2.5° (validation)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3"/>
          <p:cNvSpPr/>
          <p:nvPr/>
        </p:nvSpPr>
        <p:spPr>
          <a:xfrm>
            <a:off x="548640" y="3108960"/>
            <a:ext cx="10972080" cy="19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5 bandes de latitude  ·  moyennes pondérées cos(lat) par pixel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Pente Sen + MK p-value en pixel-par-pixel  (Sen vectorisé, MK sur 1/16 pixels)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4 hotspots : Sahel · Sibérie centrale · Amazonie · Indonésie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Régression multivariée + Granger par zone  (10 zones)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R² par zone : global 0.75 · tropical 0.69 · boreal 0.28 · Amazonie 0.04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Asymétrie hémisphérique :  T2m N/S = 1.98×  ·  PWAT N/S = 4.27×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4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ESSAI 1A · Programmation Mathématique 2025–2026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5"/>
          <p:cNvSpPr/>
          <p:nvPr/>
        </p:nvSpPr>
        <p:spPr>
          <a:xfrm>
            <a:off x="10515600" y="6446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07 / 10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548640" y="36576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07  ·  REGARD CRITIQUE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548640" y="77724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6B35"/>
                </a:solidFill>
                <a:effectLst/>
                <a:uFillTx/>
                <a:latin typeface="Inter"/>
              </a:rPr>
              <a:t>Le saut CFSR → CFSv2 (jan 2011) explique un tiers du R².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4"/>
          <p:cNvSpPr/>
          <p:nvPr/>
        </p:nvSpPr>
        <p:spPr>
          <a:xfrm>
            <a:off x="548640" y="1920240"/>
            <a:ext cx="5485680" cy="18280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777240" y="2057400"/>
            <a:ext cx="502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▸  AVANT HOMOGÉNÉISATION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777240" y="246888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R² = 0.748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777240" y="3200400"/>
            <a:ext cx="457128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12 variables résiduelles, série brute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8"/>
          <p:cNvSpPr/>
          <p:nvPr/>
        </p:nvSpPr>
        <p:spPr>
          <a:xfrm>
            <a:off x="6217920" y="1920240"/>
            <a:ext cx="5485680" cy="18280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6446520" y="2057400"/>
            <a:ext cx="502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▸  APRÈS HOMOGÉNÉISATION (jump corrigé)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6446520" y="246888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52FFB8"/>
                </a:solidFill>
                <a:effectLst/>
                <a:uFillTx/>
                <a:latin typeface="Inter"/>
              </a:rPr>
              <a:t>R² = 0.46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6446520" y="3200400"/>
            <a:ext cx="45712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≈ 1/3 du R² était artefact technique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12"/>
          <p:cNvSpPr/>
          <p:nvPr/>
        </p:nvSpPr>
        <p:spPr>
          <a:xfrm>
            <a:off x="548640" y="3977640"/>
            <a:ext cx="11154960" cy="219384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13"/>
          <p:cNvSpPr/>
          <p:nvPr/>
        </p:nvSpPr>
        <p:spPr>
          <a:xfrm>
            <a:off x="777240" y="4069080"/>
            <a:ext cx="10057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▸  17 / 21 VARIABLES AFFECTÉES (p &lt; 0.05)   ·   TOP 5 JUMP_IN_SD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868680" y="4526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Variable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3611880" y="4526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Jump (sd)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6"/>
          <p:cNvSpPr/>
          <p:nvPr/>
        </p:nvSpPr>
        <p:spPr>
          <a:xfrm>
            <a:off x="6355080" y="4526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Jump (%)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7"/>
          <p:cNvSpPr/>
          <p:nvPr/>
        </p:nvSpPr>
        <p:spPr>
          <a:xfrm>
            <a:off x="868680" y="48463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CRE_LW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8"/>
          <p:cNvSpPr/>
          <p:nvPr/>
        </p:nvSpPr>
        <p:spPr>
          <a:xfrm>
            <a:off x="3611880" y="48463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−1.92 sd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9"/>
          <p:cNvSpPr/>
          <p:nvPr/>
        </p:nvSpPr>
        <p:spPr>
          <a:xfrm>
            <a:off x="6355080" y="48463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−8.0 %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20"/>
          <p:cNvSpPr/>
          <p:nvPr/>
        </p:nvSpPr>
        <p:spPr>
          <a:xfrm>
            <a:off x="868680" y="5102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PRMSL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1"/>
          <p:cNvSpPr/>
          <p:nvPr/>
        </p:nvSpPr>
        <p:spPr>
          <a:xfrm>
            <a:off x="3611880" y="5102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−1.77 sd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2"/>
          <p:cNvSpPr/>
          <p:nvPr/>
        </p:nvSpPr>
        <p:spPr>
          <a:xfrm>
            <a:off x="6355080" y="510228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−0.03 %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3"/>
          <p:cNvSpPr/>
          <p:nvPr/>
        </p:nvSpPr>
        <p:spPr>
          <a:xfrm>
            <a:off x="868680" y="53582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CRE_SW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4"/>
          <p:cNvSpPr/>
          <p:nvPr/>
        </p:nvSpPr>
        <p:spPr>
          <a:xfrm>
            <a:off x="3611880" y="53582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+1.56 sd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5"/>
          <p:cNvSpPr/>
          <p:nvPr/>
        </p:nvSpPr>
        <p:spPr>
          <a:xfrm>
            <a:off x="6355080" y="535824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−11.4 %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6"/>
          <p:cNvSpPr/>
          <p:nvPr/>
        </p:nvSpPr>
        <p:spPr>
          <a:xfrm>
            <a:off x="868680" y="56145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TCDC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7"/>
          <p:cNvSpPr/>
          <p:nvPr/>
        </p:nvSpPr>
        <p:spPr>
          <a:xfrm>
            <a:off x="3611880" y="56145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+1.14 sd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28"/>
          <p:cNvSpPr/>
          <p:nvPr/>
        </p:nvSpPr>
        <p:spPr>
          <a:xfrm>
            <a:off x="6355080" y="561456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+4.3 %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29"/>
          <p:cNvSpPr/>
          <p:nvPr/>
        </p:nvSpPr>
        <p:spPr>
          <a:xfrm>
            <a:off x="868680" y="58705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CRE_net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30"/>
          <p:cNvSpPr/>
          <p:nvPr/>
        </p:nvSpPr>
        <p:spPr>
          <a:xfrm>
            <a:off x="3611880" y="58705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+1.13 sd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31"/>
          <p:cNvSpPr/>
          <p:nvPr/>
        </p:nvSpPr>
        <p:spPr>
          <a:xfrm>
            <a:off x="6355080" y="5870520"/>
            <a:ext cx="2285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−15.7 %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32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ESSAI 1A · Programmation Mathématique 2025–2026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33"/>
          <p:cNvSpPr/>
          <p:nvPr/>
        </p:nvSpPr>
        <p:spPr>
          <a:xfrm>
            <a:off x="10515600" y="6446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08 / 10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2"/>
          <p:cNvSpPr/>
          <p:nvPr/>
        </p:nvSpPr>
        <p:spPr>
          <a:xfrm>
            <a:off x="548640" y="36576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08  ·  DASHBOARD INTERACTIF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3"/>
          <p:cNvSpPr/>
          <p:nvPr/>
        </p:nvSpPr>
        <p:spPr>
          <a:xfrm>
            <a:off x="547920" y="609120"/>
            <a:ext cx="1097208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6 sections cinématiques  ·  globe 3D NASA + 36 grilles réelles.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ounded Rectangle 4"/>
          <p:cNvSpPr/>
          <p:nvPr/>
        </p:nvSpPr>
        <p:spPr>
          <a:xfrm>
            <a:off x="548640" y="1920240"/>
            <a:ext cx="5485680" cy="420552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5"/>
          <p:cNvSpPr/>
          <p:nvPr/>
        </p:nvSpPr>
        <p:spPr>
          <a:xfrm>
            <a:off x="777240" y="2057400"/>
            <a:ext cx="502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▸  STACK TECHNIQUE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6"/>
          <p:cNvSpPr/>
          <p:nvPr/>
        </p:nvSpPr>
        <p:spPr>
          <a:xfrm>
            <a:off x="777240" y="2468880"/>
            <a:ext cx="5028480" cy="35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React 18.3  +  Three.js 0.158  +  Babel in-browser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Pas de bundler  ·  édition .jsx live  ·  cache-bust ?v=…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Globe shader-based  +  texture NASA Blue Marble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TopoJSON coastlines  ·  starfield  ·  hotspots interactifs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Données scientifiques inline  +  fetch JSON 190 KB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(36 grilles 18 vars × 2 modes  ·  export depuis .pkl)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Server :  python -m http.server 8088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ounded Rectangle 7"/>
          <p:cNvSpPr/>
          <p:nvPr/>
        </p:nvSpPr>
        <p:spPr>
          <a:xfrm>
            <a:off x="6217920" y="1920240"/>
            <a:ext cx="5485680" cy="420552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8"/>
          <p:cNvSpPr/>
          <p:nvPr/>
        </p:nvSpPr>
        <p:spPr>
          <a:xfrm>
            <a:off x="6446520" y="2057400"/>
            <a:ext cx="5028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▸  6 SECTIONS CINÉMATIQUES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9"/>
          <p:cNvSpPr/>
          <p:nvPr/>
        </p:nvSpPr>
        <p:spPr>
          <a:xfrm>
            <a:off x="6446520" y="2468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B627"/>
                </a:solidFill>
                <a:effectLst/>
                <a:uFillTx/>
                <a:latin typeface="Consolas"/>
              </a:rPr>
              <a:t>01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0"/>
          <p:cNvSpPr/>
          <p:nvPr/>
        </p:nvSpPr>
        <p:spPr>
          <a:xfrm>
            <a:off x="6903720" y="246888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Hero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1"/>
          <p:cNvSpPr/>
          <p:nvPr/>
        </p:nvSpPr>
        <p:spPr>
          <a:xfrm>
            <a:off x="6446520" y="269748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+89 ppm en 47 ans — KPI vivants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2"/>
          <p:cNvSpPr/>
          <p:nvPr/>
        </p:nvSpPr>
        <p:spPr>
          <a:xfrm>
            <a:off x="6446520" y="3035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B627"/>
                </a:solidFill>
                <a:effectLst/>
                <a:uFillTx/>
                <a:latin typeface="Consolas"/>
              </a:rPr>
              <a:t>02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13"/>
          <p:cNvSpPr/>
          <p:nvPr/>
        </p:nvSpPr>
        <p:spPr>
          <a:xfrm>
            <a:off x="6903720" y="303588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Trajectoire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14"/>
          <p:cNvSpPr/>
          <p:nvPr/>
        </p:nvSpPr>
        <p:spPr>
          <a:xfrm>
            <a:off x="6446520" y="326448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Courbe CO₂ + 3 modèles + timeline événements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5"/>
          <p:cNvSpPr/>
          <p:nvPr/>
        </p:nvSpPr>
        <p:spPr>
          <a:xfrm>
            <a:off x="6446520" y="360288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B627"/>
                </a:solidFill>
                <a:effectLst/>
                <a:uFillTx/>
                <a:latin typeface="Consolas"/>
              </a:rPr>
              <a:t>03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6"/>
          <p:cNvSpPr/>
          <p:nvPr/>
        </p:nvSpPr>
        <p:spPr>
          <a:xfrm>
            <a:off x="6903720" y="360288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Earth 3D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7"/>
          <p:cNvSpPr/>
          <p:nvPr/>
        </p:nvSpPr>
        <p:spPr>
          <a:xfrm>
            <a:off x="6446520" y="383148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Globe interactif · 18 vars × 2 modes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8"/>
          <p:cNvSpPr/>
          <p:nvPr/>
        </p:nvSpPr>
        <p:spPr>
          <a:xfrm>
            <a:off x="6446520" y="4169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B627"/>
                </a:solidFill>
                <a:effectLst/>
                <a:uFillTx/>
                <a:latin typeface="Consolas"/>
              </a:rPr>
              <a:t>04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9"/>
          <p:cNvSpPr/>
          <p:nvPr/>
        </p:nvSpPr>
        <p:spPr>
          <a:xfrm>
            <a:off x="6903720" y="41695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Lien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0"/>
          <p:cNvSpPr/>
          <p:nvPr/>
        </p:nvSpPr>
        <p:spPr>
          <a:xfrm>
            <a:off x="6446520" y="43981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Heatmap 21×5 · Sankey Granger · R² 0.75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21"/>
          <p:cNvSpPr/>
          <p:nvPr/>
        </p:nvSpPr>
        <p:spPr>
          <a:xfrm>
            <a:off x="6446520" y="4736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B627"/>
                </a:solidFill>
                <a:effectLst/>
                <a:uFillTx/>
                <a:latin typeface="Consolas"/>
              </a:rPr>
              <a:t>05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2"/>
          <p:cNvSpPr/>
          <p:nvPr/>
        </p:nvSpPr>
        <p:spPr>
          <a:xfrm>
            <a:off x="6903720" y="47365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Hotspots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3"/>
          <p:cNvSpPr/>
          <p:nvPr/>
        </p:nvSpPr>
        <p:spPr>
          <a:xfrm>
            <a:off x="6446520" y="49651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4 mini-globes · amplif. arctique · radar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4"/>
          <p:cNvSpPr/>
          <p:nvPr/>
        </p:nvSpPr>
        <p:spPr>
          <a:xfrm>
            <a:off x="6446520" y="5303520"/>
            <a:ext cx="45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B627"/>
                </a:solidFill>
                <a:effectLst/>
                <a:uFillTx/>
                <a:latin typeface="Consolas"/>
              </a:rPr>
              <a:t>06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25"/>
          <p:cNvSpPr/>
          <p:nvPr/>
        </p:nvSpPr>
        <p:spPr>
          <a:xfrm>
            <a:off x="6903720" y="530352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5F5F7"/>
                </a:solidFill>
                <a:effectLst/>
                <a:uFillTx/>
                <a:latin typeface="Consolas"/>
              </a:rPr>
              <a:t>Critique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6"/>
          <p:cNvSpPr/>
          <p:nvPr/>
        </p:nvSpPr>
        <p:spPr>
          <a:xfrm>
            <a:off x="6446520" y="55321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Saut CFSR · 3 limites · sources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7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ESSAI 1A · Programmation Mathématique 2025–2026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8"/>
          <p:cNvSpPr/>
          <p:nvPr/>
        </p:nvSpPr>
        <p:spPr>
          <a:xfrm>
            <a:off x="10515600" y="6446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09 / 10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A0E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2"/>
          <p:cNvSpPr/>
          <p:nvPr/>
        </p:nvSpPr>
        <p:spPr>
          <a:xfrm>
            <a:off x="548640" y="365760"/>
            <a:ext cx="731448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09  ·  CONCLUSIONS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3"/>
          <p:cNvSpPr/>
          <p:nvPr/>
        </p:nvSpPr>
        <p:spPr>
          <a:xfrm>
            <a:off x="548640" y="73116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Trois résultats robustes  ·  honnêtes sur les limites.</a:t>
            </a:r>
            <a:endParaRPr lang="fr-F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ounded Rectangle 4"/>
          <p:cNvSpPr/>
          <p:nvPr/>
        </p:nvSpPr>
        <p:spPr>
          <a:xfrm>
            <a:off x="540000" y="1980000"/>
            <a:ext cx="3656880" cy="219384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5"/>
          <p:cNvSpPr/>
          <p:nvPr/>
        </p:nvSpPr>
        <p:spPr>
          <a:xfrm>
            <a:off x="731520" y="205740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0D9FF"/>
                </a:solidFill>
                <a:effectLst/>
                <a:uFillTx/>
                <a:latin typeface="Consolas"/>
              </a:rPr>
              <a:t>01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6"/>
          <p:cNvSpPr/>
          <p:nvPr/>
        </p:nvSpPr>
        <p:spPr>
          <a:xfrm>
            <a:off x="731520" y="2560320"/>
            <a:ext cx="365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Corrélations brutes trompeuses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7"/>
          <p:cNvSpPr/>
          <p:nvPr/>
        </p:nvSpPr>
        <p:spPr>
          <a:xfrm>
            <a:off x="731520" y="2971800"/>
            <a:ext cx="338256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11 variables sur 21 ont |r| &gt; 0.4 sur les niveaux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mais perdent ce lien sur les résidus.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→ partage de la trend séculaire commune.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8"/>
          <p:cNvSpPr/>
          <p:nvPr/>
        </p:nvSpPr>
        <p:spPr>
          <a:xfrm>
            <a:off x="4355640" y="1980000"/>
            <a:ext cx="3656880" cy="219384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9"/>
          <p:cNvSpPr/>
          <p:nvPr/>
        </p:nvSpPr>
        <p:spPr>
          <a:xfrm>
            <a:off x="4572000" y="205740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52FFB8"/>
                </a:solidFill>
                <a:effectLst/>
                <a:uFillTx/>
                <a:latin typeface="Consolas"/>
              </a:rPr>
              <a:t>02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10"/>
          <p:cNvSpPr/>
          <p:nvPr/>
        </p:nvSpPr>
        <p:spPr>
          <a:xfrm>
            <a:off x="4572000" y="2560320"/>
            <a:ext cx="3656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5 variables réellement actives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11"/>
          <p:cNvSpPr/>
          <p:nvPr/>
        </p:nvSpPr>
        <p:spPr>
          <a:xfrm>
            <a:off x="4572000" y="2971800"/>
            <a:ext cx="338256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À l'échelle interannuelle (résid + d12) :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CRE_LW · CRE_SW · DSWRF · CRE_net · PRMSL.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→ 15/21 causent Granger le CO₂ (lag 6 mois).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ounded Rectangle 12"/>
          <p:cNvSpPr/>
          <p:nvPr/>
        </p:nvSpPr>
        <p:spPr>
          <a:xfrm>
            <a:off x="8225640" y="1980000"/>
            <a:ext cx="3474000" cy="219384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13"/>
          <p:cNvSpPr/>
          <p:nvPr/>
        </p:nvSpPr>
        <p:spPr>
          <a:xfrm>
            <a:off x="8412480" y="2057400"/>
            <a:ext cx="3474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6B35"/>
                </a:solidFill>
                <a:effectLst/>
                <a:uFillTx/>
                <a:latin typeface="Consolas"/>
              </a:rPr>
              <a:t>03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4"/>
          <p:cNvSpPr/>
          <p:nvPr/>
        </p:nvSpPr>
        <p:spPr>
          <a:xfrm>
            <a:off x="8412480" y="2560320"/>
            <a:ext cx="3474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Une partie est artefact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5"/>
          <p:cNvSpPr/>
          <p:nvPr/>
        </p:nvSpPr>
        <p:spPr>
          <a:xfrm>
            <a:off x="8412480" y="2971800"/>
            <a:ext cx="31996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Saut CFSR → CFSv2 en jan 2011 :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17/21 vars affectées.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R² 0.75 → 0.46 après homogénéisation.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9CA3AF"/>
                </a:solidFill>
                <a:effectLst/>
                <a:uFillTx/>
                <a:latin typeface="Inter"/>
              </a:rPr>
              <a:t>T2m / CSDLF gagnent (forçage GES démasqué).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ounded Rectangle 16"/>
          <p:cNvSpPr/>
          <p:nvPr/>
        </p:nvSpPr>
        <p:spPr>
          <a:xfrm>
            <a:off x="548640" y="4297680"/>
            <a:ext cx="11154960" cy="1828080"/>
          </a:xfrm>
          <a:prstGeom prst="roundRect">
            <a:avLst>
              <a:gd name="adj" fmla="val 6000"/>
            </a:avLst>
          </a:prstGeom>
          <a:solidFill>
            <a:srgbClr val="141C2D"/>
          </a:solidFill>
          <a:ln>
            <a:solidFill>
              <a:srgbClr val="2A364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17"/>
          <p:cNvSpPr/>
          <p:nvPr/>
        </p:nvSpPr>
        <p:spPr>
          <a:xfrm>
            <a:off x="777240" y="4434840"/>
            <a:ext cx="10057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B627"/>
                </a:solidFill>
                <a:effectLst/>
                <a:uFillTx/>
                <a:latin typeface="Consolas"/>
              </a:rPr>
              <a:t>▸  LIMITES ASSUMÉES  &amp;  PERSPECTIVES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8"/>
          <p:cNvSpPr/>
          <p:nvPr/>
        </p:nvSpPr>
        <p:spPr>
          <a:xfrm>
            <a:off x="777240" y="4846320"/>
            <a:ext cx="10514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Détendrage linéaire alors que la trend CO₂ est cubique  →  GAM / splines.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Moyennes globales 2.5° masquent les puits tropicaux  →  c'est ce que résoud la Phase 3.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MK p-value en 0.5° calculé sur 1/16 pixels (coût)  ·  Sen complet vectorisé.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5F5F7"/>
                </a:solidFill>
                <a:effectLst/>
                <a:uFillTx/>
                <a:latin typeface="Inter"/>
              </a:rPr>
              <a:t>▸ Migration validée 10⁻¹³  →  pipeline Python reproductible et 3× plus rapide que R.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9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ESSAI 1A · Programmation Mathématique 2025–2026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20"/>
          <p:cNvSpPr/>
          <p:nvPr/>
        </p:nvSpPr>
        <p:spPr>
          <a:xfrm>
            <a:off x="10515600" y="64465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Consolas"/>
              </a:rPr>
              <a:t>10 / 10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2026-05-16T11:09:10Z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